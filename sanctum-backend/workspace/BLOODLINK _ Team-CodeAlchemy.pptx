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13"/>
  </p:notesMasterIdLst>
  <p:sldIdLst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7" r:id="rId11"/>
    <p:sldId id="269" r:id="rId12"/>
  </p:sldIdLst>
  <p:sldSz cx="9144000" cy="5143500" type="screen16x9"/>
  <p:notesSz cx="6858000" cy="9144000"/>
  <p:embeddedFontLst>
    <p:embeddedFont>
      <p:font typeface="Google Sans" panose="020B060402020202020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3BCDF2-29C6-4D89-B5D8-7BF6176E04F3}" v="9" dt="2025-12-28T15:06:54.5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662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d07014906_2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04" name="Google Shape;104;g3ad07014906_2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d07014906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0" name="Google Shape;110;g3ad07014906_2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d07014906_2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16" name="Google Shape;116;g3ad07014906_2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d07014906_2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22" name="Google Shape;122;g3ad07014906_2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d07014906_2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28" name="Google Shape;128;g3ad07014906_2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ad07014906_2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34" name="Google Shape;134;g3ad07014906_2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ad07014906_2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6" name="Google Shape;146;g3ad07014906_2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ad07014906_2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52" name="Google Shape;152;g3ad07014906_2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d07014906_2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64" name="Google Shape;164;g3ad07014906_2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ad07014906_2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75" name="Google Shape;175;g3ad07014906_2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6"/>
          <p:cNvSpPr txBox="1"/>
          <p:nvPr/>
        </p:nvSpPr>
        <p:spPr>
          <a:xfrm>
            <a:off x="162600" y="3195125"/>
            <a:ext cx="8760000" cy="17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Team Details</a:t>
            </a:r>
            <a:endParaRPr sz="1800" b="1" i="0" u="none" strike="noStrike" cap="none" dirty="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Google Sans"/>
              <a:buAutoNum type="alphaLcPeriod"/>
            </a:pPr>
            <a:r>
              <a:rPr lang="en-GB" sz="1600" b="1" i="0" u="none" strike="noStrike" cap="none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Team name : CodeAlchemy</a:t>
            </a:r>
            <a:endParaRPr sz="1600" b="1" i="0" u="none" strike="noStrike" cap="none" dirty="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Google Sans"/>
              <a:buAutoNum type="alphaLcPeriod"/>
            </a:pPr>
            <a:r>
              <a:rPr lang="en-GB" sz="1600" b="1" i="0" u="none" strike="noStrike" cap="none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Team leader name : </a:t>
            </a:r>
            <a:r>
              <a:rPr lang="en-GB" sz="1600" b="1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S.</a:t>
            </a:r>
            <a:r>
              <a:rPr lang="en-GB" sz="1600" b="1" i="0" u="none" strike="noStrike" cap="none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 Pranathi</a:t>
            </a:r>
            <a:endParaRPr sz="1600" b="1" i="0" u="none" strike="noStrike" cap="none" dirty="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lvl="1" indent="-342900">
              <a:buClr>
                <a:srgbClr val="434343"/>
              </a:buClr>
              <a:buSzPts val="1800"/>
              <a:buFont typeface="Google Sans"/>
              <a:buAutoNum type="alphaLcPeriod"/>
            </a:pPr>
            <a:r>
              <a:rPr lang="en-GB" sz="1600" b="1" i="0" u="none" strike="noStrike" cap="none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Problem Statement : </a:t>
            </a:r>
            <a:r>
              <a:rPr lang="en-US" sz="1600" b="1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 Blood Link – Real-Time Blood Donation &amp; Emergency Coordination System</a:t>
            </a:r>
            <a:r>
              <a:rPr lang="en-GB" sz="1600" b="1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 </a:t>
            </a:r>
            <a:endParaRPr lang="en-GB" sz="1600" b="1" i="0" u="none" strike="noStrike" cap="none" dirty="0">
              <a:ea typeface="Google Sans"/>
            </a:endParaRPr>
          </a:p>
        </p:txBody>
      </p:sp>
      <p:pic>
        <p:nvPicPr>
          <p:cNvPr id="107" name="Google Shape;107;p26" title="Techsprint bann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085198" cy="3028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7"/>
          <p:cNvSpPr txBox="1"/>
          <p:nvPr/>
        </p:nvSpPr>
        <p:spPr>
          <a:xfrm>
            <a:off x="-1" y="574171"/>
            <a:ext cx="9102801" cy="444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Problem Statement Addressed by Bloodlink</a:t>
            </a:r>
          </a:p>
          <a:p>
            <a:endParaRPr lang="en-US" sz="1200" dirty="0"/>
          </a:p>
        </p:txBody>
      </p:sp>
      <p:pic>
        <p:nvPicPr>
          <p:cNvPr id="113" name="Google Shape;113;p27" title="Group 220018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800" y="174175"/>
            <a:ext cx="1826526" cy="3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875EB6F-249E-AFCF-5CD5-C54C17043A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00" y="1187080"/>
            <a:ext cx="518394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Medical emergencies lose critical time due to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fragmented blood donation systems.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Hospitals depend on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manual calls, outdated donor lists, and static inventories.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real-time visibility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into donor availability, eligibility, or blood stock.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Inconsistent medical eligibility checks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risk unsafe donations.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Poor coordination causes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panic, misinformation, and preventable loss of life.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EB02F5A-84DE-7068-37E8-70F3C7DF8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2286" y="657729"/>
            <a:ext cx="3197578" cy="39116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8"/>
          <p:cNvSpPr txBox="1"/>
          <p:nvPr/>
        </p:nvSpPr>
        <p:spPr>
          <a:xfrm>
            <a:off x="159800" y="694393"/>
            <a:ext cx="7244777" cy="3869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</a:p>
          <a:p>
            <a:endParaRPr lang="en-US" sz="1200" b="1" dirty="0"/>
          </a:p>
          <a:p>
            <a:r>
              <a:rPr lang="en-US" sz="1200" b="1" dirty="0"/>
              <a:t>How BloodLink Is Different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Real-time system, not a static donor list</a:t>
            </a:r>
            <a:r>
              <a:rPr lang="en-US" sz="1200" dirty="0"/>
              <a:t> – live synchronized dashboards with instant state updates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Emergency-first design</a:t>
            </a:r>
            <a:r>
              <a:rPr lang="en-US" sz="1200" dirty="0"/>
              <a:t> – SOS broadcast mode with system-wide, unavoidable alerts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Unified live view</a:t>
            </a:r>
            <a:r>
              <a:rPr lang="en-US" sz="1200" dirty="0"/>
              <a:t> – everyone sees the same state (availability, inventory, SOS) without refresh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Medical-grade verification</a:t>
            </a:r>
            <a:r>
              <a:rPr lang="en-US" sz="1200" dirty="0"/>
              <a:t> – automated eligibility engine + digital fitness certificate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Reliable production behavior</a:t>
            </a:r>
            <a:r>
              <a:rPr lang="en-US" sz="1200" dirty="0"/>
              <a:t> – built to handle concurrency, disconnects, race conditions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Purpose-limited AI assistant</a:t>
            </a:r>
            <a:r>
              <a:rPr lang="en-US" sz="1200" dirty="0"/>
              <a:t> – explains system logic only; avoids distraction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Feels like a healthcare network, not a typical app</a:t>
            </a:r>
            <a:endParaRPr lang="en-US" sz="1200" dirty="0"/>
          </a:p>
          <a:p>
            <a:br>
              <a:rPr lang="en-US" sz="1200" dirty="0"/>
            </a:br>
            <a:endParaRPr lang="en-US" sz="1200" dirty="0"/>
          </a:p>
          <a:p>
            <a:r>
              <a:rPr lang="en-US" sz="1200" b="1" dirty="0"/>
              <a:t>How BloodLink Solves the Problem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Saves time during emergencies</a:t>
            </a:r>
            <a:r>
              <a:rPr lang="en-US" sz="1200" dirty="0"/>
              <a:t> by instantly matching needs with eligible donors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Eliminates confusion</a:t>
            </a:r>
            <a:r>
              <a:rPr lang="en-US" sz="1200" dirty="0"/>
              <a:t> with live donor availability tracking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Prevents misinformation</a:t>
            </a:r>
            <a:r>
              <a:rPr lang="en-US" sz="1200" dirty="0"/>
              <a:t> via real-time blood inventory syncing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Ensures safe donations</a:t>
            </a:r>
            <a:r>
              <a:rPr lang="en-US" sz="1200" dirty="0"/>
              <a:t> through medical eligibility validation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Reduces coordinator workload</a:t>
            </a:r>
            <a:r>
              <a:rPr lang="en-US" sz="1200" dirty="0"/>
              <a:t> — no manual calling, searching, or updating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Builds accountability &amp; trust</a:t>
            </a:r>
            <a:r>
              <a:rPr lang="en-US" sz="1200" dirty="0"/>
              <a:t> with transparent eligibility, certificate, and impact profiles</a:t>
            </a:r>
          </a:p>
        </p:txBody>
      </p:sp>
      <p:pic>
        <p:nvPicPr>
          <p:cNvPr id="119" name="Google Shape;119;p28" title="Group 220018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800" y="174175"/>
            <a:ext cx="1826526" cy="32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/>
          <p:nvPr/>
        </p:nvSpPr>
        <p:spPr>
          <a:xfrm>
            <a:off x="21914" y="603200"/>
            <a:ext cx="8698800" cy="46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Features of Real Time Blood Connect</a:t>
            </a:r>
          </a:p>
          <a:p>
            <a:pPr fontAlgn="base"/>
            <a:endParaRPr lang="en-US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fontAlgn="base"/>
            <a:endParaRPr lang="en-US" sz="1200" b="1" dirty="0"/>
          </a:p>
          <a:p>
            <a:pPr marL="171450" indent="-171450" fontAlgn="base">
              <a:buFont typeface="Wingdings" panose="05000000000000000000" pitchFamily="2" charset="2"/>
              <a:buChar char="ü"/>
            </a:pPr>
            <a:r>
              <a:rPr lang="en-US" sz="1200" b="1" dirty="0"/>
              <a:t>Impact Dashboard</a:t>
            </a:r>
            <a:r>
              <a:rPr lang="en-US" sz="1200" dirty="0"/>
              <a:t> – central overview of real-time system stats​</a:t>
            </a:r>
          </a:p>
          <a:p>
            <a:pPr fontAlgn="base"/>
            <a:r>
              <a:rPr lang="en-US" sz="1200" dirty="0"/>
              <a:t>​</a:t>
            </a:r>
          </a:p>
          <a:p>
            <a:pPr marL="171450" indent="-171450" fontAlgn="base">
              <a:buFont typeface="Wingdings" panose="05000000000000000000" pitchFamily="2" charset="2"/>
              <a:buChar char="ü"/>
            </a:pPr>
            <a:r>
              <a:rPr lang="en-US" sz="1200" b="1" dirty="0"/>
              <a:t>Emergency SOS</a:t>
            </a:r>
            <a:r>
              <a:rPr lang="en-US" sz="1200" dirty="0"/>
              <a:t> – instant, high-visibility emergency alerts​</a:t>
            </a:r>
          </a:p>
          <a:p>
            <a:pPr fontAlgn="base"/>
            <a:r>
              <a:rPr lang="en-US" sz="1200" dirty="0"/>
              <a:t>​</a:t>
            </a:r>
          </a:p>
          <a:p>
            <a:pPr marL="171450" indent="-171450" fontAlgn="base">
              <a:buFont typeface="Wingdings" panose="05000000000000000000" pitchFamily="2" charset="2"/>
              <a:buChar char="ü"/>
            </a:pPr>
            <a:r>
              <a:rPr lang="en-US" sz="1200" b="1" dirty="0"/>
              <a:t>Donor Matching</a:t>
            </a:r>
            <a:r>
              <a:rPr lang="en-US" sz="1200" dirty="0"/>
              <a:t> – find compatible donors quickly​</a:t>
            </a:r>
          </a:p>
          <a:p>
            <a:pPr fontAlgn="base"/>
            <a:r>
              <a:rPr lang="en-US" sz="1200" dirty="0"/>
              <a:t>​</a:t>
            </a:r>
          </a:p>
          <a:p>
            <a:pPr marL="171450" indent="-171450" fontAlgn="base">
              <a:buFont typeface="Wingdings" panose="05000000000000000000" pitchFamily="2" charset="2"/>
              <a:buChar char="ü"/>
            </a:pPr>
            <a:r>
              <a:rPr lang="en-US" sz="1200" b="1" dirty="0"/>
              <a:t>Blood Bank Inventory</a:t>
            </a:r>
            <a:r>
              <a:rPr lang="en-US" sz="1200" dirty="0"/>
              <a:t> – live count of available blood units​</a:t>
            </a:r>
          </a:p>
          <a:p>
            <a:pPr fontAlgn="base"/>
            <a:r>
              <a:rPr lang="en-US" sz="1200" dirty="0"/>
              <a:t>​</a:t>
            </a:r>
          </a:p>
          <a:p>
            <a:pPr marL="171450" indent="-171450" fontAlgn="base">
              <a:buFont typeface="Wingdings" panose="05000000000000000000" pitchFamily="2" charset="2"/>
              <a:buChar char="ü"/>
            </a:pPr>
            <a:r>
              <a:rPr lang="en-US" sz="1200" b="1" dirty="0"/>
              <a:t>Hospital Queue</a:t>
            </a:r>
            <a:r>
              <a:rPr lang="en-US" sz="1200" dirty="0"/>
              <a:t> – manage requests and priorities​</a:t>
            </a:r>
          </a:p>
          <a:p>
            <a:pPr fontAlgn="base"/>
            <a:r>
              <a:rPr lang="en-US" sz="1200" dirty="0"/>
              <a:t>​</a:t>
            </a:r>
          </a:p>
          <a:p>
            <a:pPr marL="171450" indent="-171450" fontAlgn="base">
              <a:buFont typeface="Wingdings" panose="05000000000000000000" pitchFamily="2" charset="2"/>
              <a:buChar char="ü"/>
            </a:pPr>
            <a:r>
              <a:rPr lang="en-US" sz="1200" b="1" dirty="0"/>
              <a:t>Health Eligibility</a:t>
            </a:r>
            <a:r>
              <a:rPr lang="en-US" sz="1200" dirty="0"/>
              <a:t> – determine if donors are medically eligible​</a:t>
            </a:r>
          </a:p>
          <a:p>
            <a:pPr fontAlgn="base"/>
            <a:r>
              <a:rPr lang="en-US" sz="1200" dirty="0"/>
              <a:t>​</a:t>
            </a:r>
          </a:p>
          <a:p>
            <a:pPr marL="171450" indent="-171450" fontAlgn="base">
              <a:buFont typeface="Wingdings" panose="05000000000000000000" pitchFamily="2" charset="2"/>
              <a:buChar char="ü"/>
            </a:pPr>
            <a:r>
              <a:rPr lang="en-US" sz="1200" b="1" dirty="0"/>
              <a:t>Donation Certificates</a:t>
            </a:r>
            <a:r>
              <a:rPr lang="en-US" sz="1200" dirty="0"/>
              <a:t> – generate certificates for completed donations​</a:t>
            </a:r>
          </a:p>
          <a:p>
            <a:pPr fontAlgn="base"/>
            <a:r>
              <a:rPr lang="en-US" sz="1200" dirty="0"/>
              <a:t>​</a:t>
            </a:r>
          </a:p>
          <a:p>
            <a:pPr marL="171450" indent="-171450" fontAlgn="base">
              <a:buFont typeface="Wingdings" panose="05000000000000000000" pitchFamily="2" charset="2"/>
              <a:buChar char="ü"/>
            </a:pPr>
            <a:r>
              <a:rPr lang="en-US" sz="1200" b="1" dirty="0"/>
              <a:t>Donation Events</a:t>
            </a:r>
            <a:r>
              <a:rPr lang="en-US" sz="1200" dirty="0"/>
              <a:t> – schedule or join blood donation drives​</a:t>
            </a:r>
          </a:p>
          <a:p>
            <a:pPr fontAlgn="base"/>
            <a:r>
              <a:rPr lang="en-US" sz="1200" dirty="0"/>
              <a:t>​</a:t>
            </a:r>
          </a:p>
          <a:p>
            <a:pPr marL="171450" indent="-171450" fontAlgn="base">
              <a:buFont typeface="Wingdings" panose="05000000000000000000" pitchFamily="2" charset="2"/>
              <a:buChar char="ü"/>
            </a:pPr>
            <a:r>
              <a:rPr lang="en-US" sz="1200" b="1" dirty="0"/>
              <a:t>Donor Profile</a:t>
            </a:r>
            <a:r>
              <a:rPr lang="en-US" sz="1200" dirty="0"/>
              <a:t> – personal profile &amp; donation history tracked​.</a:t>
            </a:r>
          </a:p>
          <a:p>
            <a:pPr fontAlgn="base"/>
            <a:r>
              <a:rPr lang="en-US" sz="1200" dirty="0"/>
              <a:t>​</a:t>
            </a:r>
          </a:p>
          <a:p>
            <a:endParaRPr lang="en-US" sz="1100" dirty="0"/>
          </a:p>
        </p:txBody>
      </p:sp>
      <p:pic>
        <p:nvPicPr>
          <p:cNvPr id="125" name="Google Shape;125;p29" title="Group 220018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800" y="174175"/>
            <a:ext cx="1826526" cy="32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1E6CBC-4220-592A-2AB9-5430BA96D2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00" t="24969" r="3000" b="5031"/>
          <a:stretch>
            <a:fillRect/>
          </a:stretch>
        </p:blipFill>
        <p:spPr>
          <a:xfrm>
            <a:off x="5072743" y="1047750"/>
            <a:ext cx="4071257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0"/>
          <p:cNvSpPr txBox="1"/>
          <p:nvPr/>
        </p:nvSpPr>
        <p:spPr>
          <a:xfrm>
            <a:off x="0" y="675775"/>
            <a:ext cx="8784300" cy="4467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Google </a:t>
            </a:r>
            <a:r>
              <a:rPr lang="en-GB" sz="18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Technologies used in the solution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lang="en-GB" sz="1800" b="1" dirty="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200" b="1" dirty="0"/>
              <a:t>Google Maps Platform</a:t>
            </a:r>
            <a:r>
              <a:rPr lang="en-IN" sz="1200" dirty="0"/>
              <a:t> – real-time mapping of donors, hospitals &amp; SOS locations.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endParaRPr lang="en-IN" sz="1200" dirty="0"/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200" b="1" dirty="0"/>
              <a:t>Google Places API</a:t>
            </a:r>
            <a:r>
              <a:rPr lang="en-IN" sz="1200" dirty="0"/>
              <a:t> – verified hospitals and blood banks discovery.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endParaRPr lang="en-IN" sz="1200" dirty="0"/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200" b="1" dirty="0"/>
              <a:t>Google Geocoding API</a:t>
            </a:r>
            <a:r>
              <a:rPr lang="en-IN" sz="1200" dirty="0"/>
              <a:t> – accurate address-to-location conversion &amp; routing.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endParaRPr lang="en-IN" sz="1200" dirty="0"/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200" b="1" dirty="0"/>
              <a:t>Google Sign-In / OAuth 2.0</a:t>
            </a:r>
            <a:r>
              <a:rPr lang="en-IN" sz="1200" dirty="0"/>
              <a:t> – secure and seamless user authentication.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endParaRPr lang="en-IN" sz="1200" dirty="0"/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200" b="1" dirty="0"/>
              <a:t>Firebase / Firestore</a:t>
            </a:r>
            <a:r>
              <a:rPr lang="en-IN" sz="1200" dirty="0"/>
              <a:t> – real-time data sync for SOS, donors &amp; inventory.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endParaRPr lang="en-IN" sz="1200" dirty="0"/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200" b="1" dirty="0"/>
              <a:t>Google Cloud Platform (GCP)</a:t>
            </a:r>
            <a:r>
              <a:rPr lang="en-IN" sz="1200" dirty="0"/>
              <a:t> – scalable backend for high-load emergencies.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200" b="1" i="0" u="none" strike="noStrike" cap="none" dirty="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31" name="Google Shape;131;p30" title="Group 220018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800" y="174175"/>
            <a:ext cx="1826526" cy="32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78B8B00-42FC-B58E-DFD0-FD7C897357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0169" y="174175"/>
            <a:ext cx="2576005" cy="46000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37" name="Google Shape;137;p31" title="Group 220018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800" y="174175"/>
            <a:ext cx="1826526" cy="32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96E6AE-9FDA-4E19-D373-C37E93E348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3498" y="784056"/>
            <a:ext cx="1945348" cy="3905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EC3CEA5-0040-DDB4-A539-1D1707BF81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41" r="3412" b="1400"/>
          <a:stretch>
            <a:fillRect/>
          </a:stretch>
        </p:blipFill>
        <p:spPr>
          <a:xfrm>
            <a:off x="468668" y="771741"/>
            <a:ext cx="1865376" cy="39304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FB83D2-29F5-C020-D812-8FA0F72070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8300" y="739390"/>
            <a:ext cx="2012378" cy="39628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3"/>
          <p:cNvSpPr txBox="1"/>
          <p:nvPr/>
        </p:nvSpPr>
        <p:spPr>
          <a:xfrm>
            <a:off x="42105" y="60967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</a:t>
            </a:r>
            <a:endParaRPr sz="1800" b="1" i="0" u="none" strike="noStrike" cap="none" dirty="0">
              <a:solidFill>
                <a:schemeClr val="accent1">
                  <a:lumMod val="75000"/>
                </a:schemeClr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9" name="Google Shape;149;p33" title="Group 220018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800" y="174175"/>
            <a:ext cx="1826526" cy="32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0D2787C-FEFC-9FAB-5913-A53B5B2724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3727" y="1121478"/>
            <a:ext cx="5696990" cy="3797993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4"/>
          <p:cNvSpPr txBox="1"/>
          <p:nvPr/>
        </p:nvSpPr>
        <p:spPr>
          <a:xfrm>
            <a:off x="2185860" y="38487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chemeClr val="accent1">
                  <a:lumMod val="75000"/>
                </a:schemeClr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55" name="Google Shape;155;p34" title="Group 220018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800" y="174175"/>
            <a:ext cx="1826526" cy="32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86E276A-DC3A-5C89-DA89-F19AF6A445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006" y="637287"/>
            <a:ext cx="4471518" cy="251755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7C0F17D-74D2-6DFB-6770-99EF12B787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5631" y="637287"/>
            <a:ext cx="3807734" cy="202310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3FFCEAF-5385-8A41-5BB9-434B78D16E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760" y="3397583"/>
            <a:ext cx="2762544" cy="157174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CEEB18-47DF-4A48-B5B2-21BC613D17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9494" y="2942581"/>
            <a:ext cx="3700009" cy="2083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 </a:t>
            </a:r>
            <a:r>
              <a:rPr lang="en-GB" sz="18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Links with to respective to our work:</a:t>
            </a:r>
            <a:endParaRPr sz="1800" b="1" i="0" u="none" strike="noStrike" cap="none" dirty="0">
              <a:solidFill>
                <a:schemeClr val="accent1">
                  <a:lumMod val="75000"/>
                </a:schemeClr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lvl="0" indent="-342900">
              <a:buClr>
                <a:srgbClr val="434343"/>
              </a:buClr>
              <a:buSzPts val="1800"/>
              <a:buFont typeface="Google Sans"/>
              <a:buAutoNum type="arabicPeriod"/>
            </a:pPr>
            <a:r>
              <a:rPr lang="en-GB" sz="18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GitHub Public Repository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: </a:t>
            </a:r>
            <a:r>
              <a:rPr lang="en-GB" sz="1200" b="1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https://github.com/avinashinapakurthi6-glitch/bloodlink-connect</a:t>
            </a:r>
            <a:endParaRPr sz="1200" b="1" i="0" u="none" strike="noStrike" cap="none" dirty="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lvl="0" indent="-342900">
              <a:buClr>
                <a:srgbClr val="434343"/>
              </a:buClr>
              <a:buSzPts val="1800"/>
              <a:buFont typeface="Google Sans"/>
              <a:buAutoNum type="arabicPeriod"/>
            </a:pPr>
            <a:r>
              <a:rPr lang="en-GB" sz="18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Demo Video Link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: </a:t>
            </a:r>
            <a:r>
              <a:rPr lang="en-GB" sz="1200" b="1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https://drive.google.com/file/d/1AYDmM2gqU2ESHQL2jfBiWzLzf_NHZMyb/view?usp=drivesdk </a:t>
            </a:r>
            <a:endParaRPr lang="en-GB" sz="1200" b="1" i="0" u="none" strike="noStrike" cap="none" dirty="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lvl="0" indent="-342900">
              <a:buClr>
                <a:srgbClr val="434343"/>
              </a:buClr>
              <a:buSzPts val="1800"/>
              <a:buFont typeface="Google Sans"/>
              <a:buAutoNum type="arabicPeriod"/>
            </a:pPr>
            <a:r>
              <a:rPr lang="en-GB" sz="18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MVP Link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Google Sans"/>
                <a:ea typeface="Google Sans"/>
                <a:cs typeface="Google Sans"/>
                <a:sym typeface="Google Sans"/>
              </a:rPr>
              <a:t> : </a:t>
            </a:r>
            <a:r>
              <a:rPr lang="en-GB" sz="1200" b="1" dirty="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https://bloodconnect-website.vercel.app/dashboard</a:t>
            </a:r>
            <a:endParaRPr sz="1200" b="1" i="0" u="none" strike="noStrike" cap="none" dirty="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7" name="Google Shape;167;p36" title="Group 220018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800" y="174175"/>
            <a:ext cx="1826526" cy="32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endParaRPr/>
          </a:p>
        </p:txBody>
      </p:sp>
      <p:sp>
        <p:nvSpPr>
          <p:cNvPr id="178" name="Google Shape;178;p3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/>
          </a:p>
        </p:txBody>
      </p:sp>
      <p:pic>
        <p:nvPicPr>
          <p:cNvPr id="179" name="Google Shape;179;p38" title="tq slide techsprint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8"/>
          <p:cNvSpPr txBox="1"/>
          <p:nvPr/>
        </p:nvSpPr>
        <p:spPr>
          <a:xfrm>
            <a:off x="343275" y="3962950"/>
            <a:ext cx="37128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900" b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Thank you!</a:t>
            </a:r>
            <a:endParaRPr sz="4500"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ODLINK" id="{BEB41600-01C4-451C-B120-1D02B1123765}" vid="{052B327A-88BE-463C-9C14-CDDCA4A72C0F}"/>
    </a:ext>
  </a:extLst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ODLINK" id="{BEB41600-01C4-451C-B120-1D02B1123765}" vid="{48318E66-2964-4FCF-B26F-848373B2DAC5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912</TotalTime>
  <Words>497</Words>
  <Application>Microsoft Office PowerPoint</Application>
  <PresentationFormat>On-screen Show (16:9)</PresentationFormat>
  <Paragraphs>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Google Sans</vt:lpstr>
      <vt:lpstr>Arial</vt:lpstr>
      <vt:lpstr>Wingdings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pranathi suravarapu</dc:creator>
  <cp:lastModifiedBy>pranathi suravarapu</cp:lastModifiedBy>
  <cp:revision>19</cp:revision>
  <dcterms:modified xsi:type="dcterms:W3CDTF">2025-12-28T15:18:17Z</dcterms:modified>
</cp:coreProperties>
</file>